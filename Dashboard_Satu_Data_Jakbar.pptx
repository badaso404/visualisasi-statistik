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635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8C1E"/>
                </a:solidFill>
                <a:latin typeface="Calibri"/>
              </a:rPr>
              <a:t>PEMERINTAH KOTA ADMINISTRASI JAKARTA BARAT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Satu Data Jakarta Barat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AF1F8"/>
                </a:solidFill>
                <a:latin typeface="Calibri"/>
              </a:rPr>
              <a:t>Desk Data Terpadu — Kemiskinan, Kesehatan, Kependudukan &amp; Lintas Sektor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Bahan Diskusi  •  Dinas Kominfotik  • 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C1E"/>
                </a:solidFill>
                <a:latin typeface="Calibr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Arahan Pimpinan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15600" cy="17373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6200" cy="173736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78408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1">
                <a:solidFill>
                  <a:srgbClr val="0B2A4A"/>
                </a:solidFill>
                <a:latin typeface="Calibri"/>
              </a:rPr>
              <a:t>“Saya ingin ada DESK atau Dashboard Satu Data Jakarta Barat, terkait kemiskinan, kesehatan, dll. Bisa kita buat ya.”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7840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— Arahan langsung, 3 Juli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A36"/>
                </a:solidFill>
                <a:latin typeface="Calibri"/>
              </a:rPr>
              <a:t>Yang kami tangkap dari arahan: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E2A36"/>
                </a:solidFill>
                <a:latin typeface="Calibri"/>
              </a:rPr>
              <a:t>•  Satu pintu data:</a:t>
            </a:r>
            <a:r>
              <a:rPr sz="1600" b="0">
                <a:solidFill>
                  <a:srgbClr val="1E2A36"/>
                </a:solidFill>
                <a:latin typeface="Calibri"/>
              </a:rPr>
              <a:t> menyatukan data lintas sektor Jakarta Barat dalam satu tampilan (konsep “Satu Data”).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E2A36"/>
                </a:solidFill>
                <a:latin typeface="Calibri"/>
              </a:rPr>
              <a:t>•  Fokus prioritas:</a:t>
            </a:r>
            <a:r>
              <a:rPr sz="1600" b="0">
                <a:solidFill>
                  <a:srgbClr val="1E2A36"/>
                </a:solidFill>
                <a:latin typeface="Calibri"/>
              </a:rPr>
              <a:t> kemiskinan &amp; kesehatan disebut langsung — jadi indikator utama yang harus tampil.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1E2A36"/>
                </a:solidFill>
                <a:latin typeface="Calibri"/>
              </a:rPr>
              <a:t>•  Untuk pengambilan keputusan:</a:t>
            </a:r>
            <a:r>
              <a:rPr sz="1600" b="0">
                <a:solidFill>
                  <a:srgbClr val="1E2A36"/>
                </a:solidFill>
                <a:latin typeface="Calibri"/>
              </a:rPr>
              <a:t> “DESK” = alat pantau cepat bagi pimpinan, bukan sekadar halaman statistik.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C1E"/>
                </a:solidFill>
                <a:latin typeface="Calibri"/>
              </a:rPr>
              <a:t>MODAL 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Kita Tidak Mulai dari Nol — 7 Modul Sudah Jadi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606040" cy="76200"/>
          </a:xfrm>
          <a:prstGeom prst="rect">
            <a:avLst/>
          </a:prstGeom>
          <a:solidFill>
            <a:srgbClr val="1B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Kependudukan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Jumlah &amp; sebaran penduduk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002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600200"/>
            <a:ext cx="2606040" cy="762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288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Kesehatan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Faskes, stunting, dll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6002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600200"/>
            <a:ext cx="2606040" cy="76200"/>
          </a:xfrm>
          <a:prstGeom prst="rect">
            <a:avLst/>
          </a:prstGeom>
          <a:solidFill>
            <a:srgbClr val="1B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Pendidikan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Sekolah &amp; partisipasi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6002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1600200"/>
            <a:ext cx="2606040" cy="7620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8288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Geografis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46888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Wilayah &amp; batas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74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474720"/>
            <a:ext cx="2606040" cy="76200"/>
          </a:xfrm>
          <a:prstGeom prst="rect">
            <a:avLst/>
          </a:prstGeom>
          <a:solidFill>
            <a:srgbClr val="1B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Iklim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434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Cuaca &amp; curah hujan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474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3474720"/>
            <a:ext cx="2606040" cy="7620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70332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Bencana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3434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Banjir &amp; titik rawan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474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3474720"/>
            <a:ext cx="2606040" cy="762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70332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A4A"/>
                </a:solidFill>
                <a:latin typeface="Calibri"/>
              </a:rPr>
              <a:t>Infrastruktur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43400"/>
            <a:ext cx="22402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Konektivitas &amp; layanan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474720"/>
            <a:ext cx="2606040" cy="1600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794760"/>
            <a:ext cx="224028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7</a:t>
            </a:r>
          </a:p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MODUL SIAP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1E2A36"/>
                </a:solidFill>
                <a:latin typeface="Calibri"/>
              </a:rPr>
              <a:t>Pesan kunci: fondasi teknis &amp; tampilan sudah berjalan. Arahan Bapak tinggal kita rangkai menjadi Dashboard Satu Data + tambah sektor prioritas.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C1E"/>
                </a:solidFill>
                <a:latin typeface="Calibri"/>
              </a:rPr>
              <a:t>KONSEP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Cara Kerja: Overview → Detail per Sektor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5120640" cy="42062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512064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512064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1. HALAMAN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37744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1508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5E9C"/>
                </a:solidFill>
                <a:latin typeface="Calibri"/>
              </a:rPr>
              <a:t>2,4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1508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Penduduk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237744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2487168"/>
            <a:ext cx="1508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5E9C"/>
                </a:solidFill>
                <a:latin typeface="Calibri"/>
              </a:rPr>
              <a:t>5,2%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944368"/>
            <a:ext cx="1508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Kemiskinan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37744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2487168"/>
            <a:ext cx="1508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5E9C"/>
                </a:solidFill>
                <a:latin typeface="Calibri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944368"/>
            <a:ext cx="1508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Puskesmas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4747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84448"/>
            <a:ext cx="1508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5E9C"/>
                </a:solidFill>
                <a:latin typeface="Calibri"/>
              </a:rPr>
              <a:t>89%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41648"/>
            <a:ext cx="1508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APK Sekolah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4328" y="34747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8" y="3584448"/>
            <a:ext cx="1508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5E9C"/>
                </a:solidFill>
                <a:latin typeface="Calibri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4041648"/>
            <a:ext cx="1508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Titik Banjir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34747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584448"/>
            <a:ext cx="1508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5E9C"/>
                </a:solidFill>
                <a:latin typeface="Calibri"/>
              </a:rPr>
              <a:t>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4041648"/>
            <a:ext cx="1508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Coverage 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47548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E2A36"/>
                </a:solidFill>
                <a:latin typeface="Calibri"/>
              </a:rPr>
              <a:t>Pimpinan lihat kondisi Jakbar sekilas dalam 1 layar.</a:t>
            </a:r>
          </a:p>
        </p:txBody>
      </p:sp>
      <p:sp>
        <p:nvSpPr>
          <p:cNvPr id="28" name="Can 27"/>
          <p:cNvSpPr/>
          <p:nvPr/>
        </p:nvSpPr>
        <p:spPr>
          <a:xfrm>
            <a:off x="6080760" y="3291840"/>
            <a:ext cx="822960" cy="822960"/>
          </a:xfrm>
          <a:prstGeom prst="can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4114800"/>
            <a:ext cx="12801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klik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1600200"/>
            <a:ext cx="4297680" cy="42062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1600200"/>
            <a:ext cx="4297680" cy="5486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1600200"/>
            <a:ext cx="42976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2. MODUL DETAIL (mis. Kesehatan)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377440"/>
            <a:ext cx="3749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0">
                <a:solidFill>
                  <a:srgbClr val="1E2A36"/>
                </a:solidFill>
                <a:latin typeface="Calibri"/>
              </a:rPr>
              <a:t>•  Grafik tren per tahun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0">
                <a:solidFill>
                  <a:srgbClr val="1E2A36"/>
                </a:solidFill>
                <a:latin typeface="Calibri"/>
              </a:rPr>
              <a:t>•  Rincian per kecamatan (8) / kelurahan (56)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0">
                <a:solidFill>
                  <a:srgbClr val="1E2A36"/>
                </a:solidFill>
                <a:latin typeface="Calibri"/>
              </a:rPr>
              <a:t>•  Peta sebaran fasilitas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0">
                <a:solidFill>
                  <a:srgbClr val="1E2A36"/>
                </a:solidFill>
                <a:latin typeface="Calibri"/>
              </a:rPr>
              <a:t>•  Tabel data lengkap &amp; unduh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983480"/>
            <a:ext cx="37490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E2A36"/>
                </a:solidFill>
                <a:latin typeface="Calibri"/>
              </a:rPr>
              <a:t>Ini yang sudah kita punya di 7 modul.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C1E"/>
                </a:solidFill>
                <a:latin typeface="Calibri"/>
              </a:rPr>
              <a:t>PENGEMBANGAN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Usulan Modul Baru &amp; Roadmap Bertahap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3520440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520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1 — Prioritas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Kemiskinan &amp; Kesejahteraan Sosial (DTKS, bansos, pengangguran)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Ekonomi &amp; Ketenagakerjaan (UMKM, inflasi pangan)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Halaman Overview terpadu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64592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3520440" cy="64008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520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2 — Pelayanan Kota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Perizinan &amp; Pengaduan Warga (CRM/JAKI)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Lingkungan Hidup (sampah, udara, RTH)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Pemukiman (RTLH, kawasan kumuh)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520440" cy="6400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5204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3 — Pelengkap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51460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Keamanan &amp; Ketertiban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Transportasi &amp; Mobilitas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400" b="0">
                <a:solidFill>
                  <a:srgbClr val="1E2A36"/>
                </a:solidFill>
                <a:latin typeface="Calibri"/>
              </a:rPr>
              <a:t>•  Integrasi sumber data resmi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A4A"/>
                </a:solidFill>
                <a:latin typeface="Calibri"/>
              </a:rPr>
              <a:t>Fase 1 bisa mulai segera — modul Kemiskinan disebut langsung oleh Bapak.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08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C1E"/>
                </a:solidFill>
                <a:latin typeface="Calibri"/>
              </a:rPr>
              <a:t>DISKUSI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Hal yang Perlu Kita Sepakati Bersama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76200" cy="192024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A4A"/>
                </a:solidFill>
                <a:latin typeface="Calibri"/>
              </a:rPr>
              <a:t>1.  SUMBER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46634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E2A36"/>
                </a:solidFill>
                <a:latin typeface="Calibri"/>
              </a:rPr>
              <a:t>Data ditarik dari mana? OPD/Dinas terkait, input manual, atau integrasi sistem? Siapa penanggung jawab pembaruan?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76200" cy="1920240"/>
          </a:xfrm>
          <a:prstGeom prst="rect">
            <a:avLst/>
          </a:prstGeom>
          <a:solidFill>
            <a:srgbClr val="1B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A4A"/>
                </a:solidFill>
                <a:latin typeface="Calibri"/>
              </a:rPr>
              <a:t>2.  PENGGUNA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6634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E2A36"/>
                </a:solidFill>
                <a:latin typeface="Calibri"/>
              </a:rPr>
              <a:t>Untuk internal pimpinan &amp; OPD saja, atau dibuka juga untuk publik? Menentukan desain &amp; keamanan.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76200" cy="192024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2336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A4A"/>
                </a:solidFill>
                <a:latin typeface="Calibri"/>
              </a:rPr>
              <a:t>3.  CAKUPAN WILAYAH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72000"/>
            <a:ext cx="46634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E2A36"/>
                </a:solidFill>
                <a:latin typeface="Calibri"/>
              </a:rPr>
              <a:t>Sampai level mana? Kota, 8 kecamatan, atau 56 kelurahan?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5212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94760"/>
            <a:ext cx="76200" cy="19202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23360"/>
            <a:ext cx="4663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A4A"/>
                </a:solidFill>
                <a:latin typeface="Calibri"/>
              </a:rPr>
              <a:t>4.  FREKUENSI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72000"/>
            <a:ext cx="46634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E2A36"/>
                </a:solidFill>
                <a:latin typeface="Calibri"/>
              </a:rPr>
              <a:t>Data diperbarui harian, bulanan, atau tahunan? Menentukan mekanisme input.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B7B"/>
                </a:solidFill>
                <a:latin typeface="Calibri"/>
              </a:rPr>
              <a:t>“Satu Data” berhasil bukan karena teknologinya, tapi karena kejelasan sumber &amp; tata kelola datanya.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Langkah Selanjutnya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0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91640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Sepakati sektor prioritas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21408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AF1F8"/>
                </a:solidFill>
                <a:latin typeface="Calibri"/>
              </a:rPr>
              <a:t>Konfirmasi modul Fase 1 (Kemiskinan, dll) &amp; tentukan indikator utama.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97480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Petakan sumber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27248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AF1F8"/>
                </a:solidFill>
                <a:latin typeface="Calibri"/>
              </a:rPr>
              <a:t>Identifikasi OPD pemilik data &amp; tunjuk wali data tiap sektor.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03320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Bangun Overview + modul Kemiskinan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33088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AF1F8"/>
                </a:solidFill>
                <a:latin typeface="Calibri"/>
              </a:rPr>
              <a:t>Kembangkan di atas 7 modul yang sudah ada.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54880"/>
            <a:ext cx="548640" cy="548640"/>
          </a:xfrm>
          <a:prstGeom prst="ellipse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09160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Uji coba 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38928"/>
            <a:ext cx="9601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AF1F8"/>
                </a:solidFill>
                <a:latin typeface="Calibri"/>
              </a:rPr>
              <a:t>Demo ke pimpinan, kumpulkan masukan, iterasi.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Dinas Kominfotik Jakarta Barat  •  Siap mengeksekusi arahan Bapak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